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4"/>
  </p:notesMasterIdLst>
  <p:sldIdLst>
    <p:sldId id="291" r:id="rId2"/>
    <p:sldId id="281" r:id="rId3"/>
    <p:sldId id="305" r:id="rId4"/>
    <p:sldId id="309" r:id="rId5"/>
    <p:sldId id="312" r:id="rId6"/>
    <p:sldId id="314" r:id="rId7"/>
    <p:sldId id="313" r:id="rId8"/>
    <p:sldId id="315" r:id="rId9"/>
    <p:sldId id="293" r:id="rId10"/>
    <p:sldId id="294" r:id="rId11"/>
    <p:sldId id="316" r:id="rId12"/>
    <p:sldId id="296" r:id="rId13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F8EFA-8416-AAA8-DA3B-45D598DB0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DA9FBFFD-EA67-97F5-F152-C9772C75B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D69F0709-5240-F4B3-BA8B-456B300D949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32DE535D-2A6F-4660-A4AF-E5B09A3767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44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834FF-9087-65F0-40E1-BDE48AB50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A0BBE435-72C2-67CB-B990-A8FCE71BA1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95B96695-8061-F8CE-23BF-CC477954C80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75482DBA-887A-48E3-1F66-70393C09BF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391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419A4-EB67-14A5-D60F-86FD5B663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8B7E501-BAFD-3A57-A94E-A00F4AA5BF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C8489EBC-A76D-4C27-E868-FA5DA3C62D5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93BC45DF-EA00-1D41-1EEE-12C496E7C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60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6542-17D4-DA94-BC18-0E41DB84E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97A9B584-E796-AAA0-E2AF-414B0581BE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EFB6A8D5-2D7A-A747-D4C1-FFC4C4E5186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A15EE8F-2FCA-841F-E365-FF062322AA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934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72C15-FE12-D3F6-4E4E-930A4AB42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19406E8C-7742-A4EC-329D-86ABFC854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3E77D69-751B-1E89-98D8-B905178E83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E1309BE3-2492-9BE0-2713-7E891EAA9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2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229D0-360C-EC6E-FC18-237C17049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1264349C-12B9-2021-DF3F-6D6F0D9CE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FACDC024-D6DC-014B-B410-106C1E26BA5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D4EC5770-D15C-4D7F-A4EE-973B101F3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01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6FC32-029A-D1B5-29C0-990824926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AF145770-2021-6201-F8D6-FEEA482FE5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FBA778C-13D9-2E33-F170-D300F18058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D77DE095-8F0E-7124-1D89-E7EEDEFC2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68940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fCtMf6qHtdk" TargetMode="External"/><Relationship Id="rId3" Type="http://schemas.openxmlformats.org/officeDocument/2006/relationships/hyperlink" Target="https://www.kaggle.com/datasets/sovitrath/diabetic-retinopathy-224x224-gaussian-filtered/code" TargetMode="External"/><Relationship Id="rId7" Type="http://schemas.openxmlformats.org/officeDocument/2006/relationships/hyperlink" Target="https://www.youtube.com/watch?v=5V3GPFUzCCk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29679616/" TargetMode="External"/><Relationship Id="rId5" Type="http://schemas.openxmlformats.org/officeDocument/2006/relationships/hyperlink" Target="https://retinalscreenings.com/blog/diabetic-retinopathy-stages/" TargetMode="External"/><Relationship Id="rId4" Type="http://schemas.openxmlformats.org/officeDocument/2006/relationships/hyperlink" Target="https://ieeexplore.ieee.org/document/1053901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AVINYA_25 HACKATHON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8115" y="851512"/>
            <a:ext cx="10836298" cy="2932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200000"/>
              </a:lnSpc>
            </a:pP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Project Title – Diabetic Retinopathy Detection using Deep Learning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Medicine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Tech Titans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EXISTING SOLUTION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4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5D0EA3-FB9E-4E42-D597-00BA8E66CE38}"/>
              </a:ext>
            </a:extLst>
          </p:cNvPr>
          <p:cNvSpPr txBox="1"/>
          <p:nvPr/>
        </p:nvSpPr>
        <p:spPr>
          <a:xfrm>
            <a:off x="619433" y="1582994"/>
            <a:ext cx="1073682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Over the past decade, many DR detection platforms were created like </a:t>
            </a:r>
            <a:r>
              <a:rPr lang="en-US" sz="2400" dirty="0" err="1"/>
              <a:t>EyeArt,Idx-DR,RetinaLyse</a:t>
            </a:r>
            <a:r>
              <a:rPr lang="en-US" sz="2400" dirty="0"/>
              <a:t> </a:t>
            </a:r>
            <a:r>
              <a:rPr lang="en-US" sz="2400" dirty="0" err="1"/>
              <a:t>etc</a:t>
            </a:r>
            <a:r>
              <a:rPr lang="en-US" sz="2400" dirty="0"/>
              <a:t>…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They use AI and image analysis algorithms to assess the retinal images for sign of DR, offering rapid screening capabilities.</a:t>
            </a:r>
            <a:br>
              <a:rPr lang="en-US" sz="2400" dirty="0"/>
            </a:b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Drawbacks :</a:t>
            </a: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High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Ignoring patient context and only analyses images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Hard to interpret results and lack next steps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 built in explanations and recommendations.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273C2-C1EC-E52F-D4DE-EB7CD048E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33A8C20-36D9-303B-A4ED-659505FA4F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>
            <a:extLst>
              <a:ext uri="{FF2B5EF4-FFF2-40B4-BE49-F238E27FC236}">
                <a16:creationId xmlns:a16="http://schemas.microsoft.com/office/drawing/2014/main" id="{7E6B1660-1A6A-4CB1-D62B-C68FC8AD8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20EC2-8C46-4A04-2581-F29ECE2AD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C1BDBF5-D4BD-3B88-CC8B-B74B0491E15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AD421B-FE08-50CE-D853-9BB9CC19F0F1}"/>
              </a:ext>
            </a:extLst>
          </p:cNvPr>
          <p:cNvSpPr txBox="1"/>
          <p:nvPr/>
        </p:nvSpPr>
        <p:spPr>
          <a:xfrm>
            <a:off x="698090" y="1573161"/>
            <a:ext cx="10884310" cy="412420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2400" dirty="0"/>
              <a:t>Our project is an AI-based web application that automates the detection of diabetic retinopathy from retina images. It uses EfficientNetB0 to classify DR stages, enabling early screening and reducing the burden on ophthalmologists.</a:t>
            </a:r>
          </a:p>
          <a:p>
            <a:endParaRPr lang="en-US" sz="2400" dirty="0"/>
          </a:p>
          <a:p>
            <a:r>
              <a:rPr lang="en-US" sz="2800" b="1" dirty="0"/>
              <a:t>How our project addresses the drawbacks from existing solutions 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It is free application.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It has an integrated questionnaire.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Plain language results and personalized recommendations.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Easy to understand the result.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Can be open sourced.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236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79704-7D2E-A2D1-AD22-B23F9DC70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67E05B3-B34F-25F4-595C-03394A1EF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2FC2F-EDEF-A2B6-1177-F0F37009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8165C095-E0D9-BD6D-00A6-EB35DB07E0F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EDC78DB-BCA2-74F5-6645-28728243E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Approach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824160-FBA8-1F3E-9F91-C42542D06183}"/>
              </a:ext>
            </a:extLst>
          </p:cNvPr>
          <p:cNvSpPr txBox="1"/>
          <p:nvPr/>
        </p:nvSpPr>
        <p:spPr>
          <a:xfrm>
            <a:off x="904568" y="1524000"/>
            <a:ext cx="1044185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Programming Languages:</a:t>
            </a:r>
            <a:endParaRPr lang="en-US" sz="2800" dirty="0"/>
          </a:p>
          <a:p>
            <a:pPr lvl="1"/>
            <a:r>
              <a:rPr lang="en-US" sz="2400" dirty="0"/>
              <a:t>Python (model development, preprocessing, backend)</a:t>
            </a:r>
          </a:p>
          <a:p>
            <a:pPr lvl="1"/>
            <a:r>
              <a:rPr lang="en-US" sz="2400" dirty="0"/>
              <a:t>JavaScript / HTML / CSS (frontend with ReactJS)</a:t>
            </a:r>
          </a:p>
          <a:p>
            <a:pPr lvl="1"/>
            <a:endParaRPr lang="en-US" sz="2400" dirty="0"/>
          </a:p>
          <a:p>
            <a:r>
              <a:rPr lang="en-US" sz="2800" b="1" dirty="0"/>
              <a:t>Frameworks &amp; Libraries:</a:t>
            </a:r>
            <a:endParaRPr lang="en-US" sz="2800" dirty="0"/>
          </a:p>
          <a:p>
            <a:pPr lvl="1"/>
            <a:r>
              <a:rPr lang="en-US" sz="2400" b="1" dirty="0"/>
              <a:t>Deep Learning:</a:t>
            </a:r>
            <a:r>
              <a:rPr lang="en-US" sz="2400" dirty="0"/>
              <a:t> </a:t>
            </a:r>
            <a:r>
              <a:rPr lang="en-US" sz="2400" dirty="0" err="1"/>
              <a:t>PyTorch</a:t>
            </a:r>
            <a:r>
              <a:rPr lang="en-US" sz="2400" dirty="0"/>
              <a:t> (EfficientNetB0 for DR classification)</a:t>
            </a:r>
          </a:p>
          <a:p>
            <a:pPr lvl="1"/>
            <a:r>
              <a:rPr lang="en-US" sz="2400" b="1" dirty="0"/>
              <a:t>Computer Vision:</a:t>
            </a:r>
            <a:r>
              <a:rPr lang="en-US" sz="2400" dirty="0"/>
              <a:t> OpenCV (image preprocessing, augmentation)</a:t>
            </a:r>
          </a:p>
          <a:p>
            <a:pPr lvl="1"/>
            <a:r>
              <a:rPr lang="en-US" sz="2400" b="1" dirty="0"/>
              <a:t>Web &amp; Backend: </a:t>
            </a:r>
            <a:r>
              <a:rPr lang="en-US" sz="2400" dirty="0"/>
              <a:t> </a:t>
            </a:r>
            <a:r>
              <a:rPr lang="en-US" sz="2400" dirty="0" err="1"/>
              <a:t>FastAPI</a:t>
            </a:r>
            <a:r>
              <a:rPr lang="en-US" sz="2400" dirty="0"/>
              <a:t> / Flask (API), </a:t>
            </a:r>
            <a:r>
              <a:rPr lang="en-US" sz="2400" dirty="0" err="1"/>
              <a:t>Streamlit</a:t>
            </a:r>
            <a:r>
              <a:rPr lang="en-US" sz="2400" dirty="0"/>
              <a:t> (prototype frontend)</a:t>
            </a:r>
          </a:p>
          <a:p>
            <a:pPr lvl="1"/>
            <a:r>
              <a:rPr lang="en-US" sz="2400" b="1" dirty="0"/>
              <a:t>Visualization &amp; Explainability:</a:t>
            </a:r>
            <a:r>
              <a:rPr lang="en-US" sz="2400" dirty="0"/>
              <a:t>  Matplotlib, Seaborn, Grad-CAM</a:t>
            </a:r>
          </a:p>
          <a:p>
            <a:pPr lvl="1"/>
            <a:r>
              <a:rPr lang="en-US" sz="2400" b="1" dirty="0"/>
              <a:t>Data Handling:</a:t>
            </a:r>
            <a:r>
              <a:rPr lang="en-US" sz="2400" dirty="0"/>
              <a:t> NumPy, Pandas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088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79FD5-6DE0-BC33-4EA8-8B110EE04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2764811-6E4F-ED30-1ED8-2C6D07C17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20C98-E4F6-FE8F-EADC-770814C79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760492D9-0EB4-506D-BF9D-3AFAD5675B9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E7FDAAC-BD89-712A-A196-66AD94303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1143000"/>
          </a:xfrm>
        </p:spPr>
        <p:txBody>
          <a:bodyPr/>
          <a:lstStyle/>
          <a:p>
            <a:r>
              <a:rPr lang="en-US" dirty="0"/>
              <a:t>Process of Implementation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380C0E-451E-9858-7734-62A76E206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8505" y="1199248"/>
            <a:ext cx="5135562" cy="5135562"/>
          </a:xfrm>
          <a:prstGeom prst="rect">
            <a:avLst/>
          </a:prstGeom>
        </p:spPr>
      </p:pic>
      <p:sp>
        <p:nvSpPr>
          <p:cNvPr id="15" name="Flowchart: Process 14">
            <a:extLst>
              <a:ext uri="{FF2B5EF4-FFF2-40B4-BE49-F238E27FC236}">
                <a16:creationId xmlns:a16="http://schemas.microsoft.com/office/drawing/2014/main" id="{B1B0CAE8-92A1-32EB-9837-0E7451A04326}"/>
              </a:ext>
            </a:extLst>
          </p:cNvPr>
          <p:cNvSpPr/>
          <p:nvPr/>
        </p:nvSpPr>
        <p:spPr>
          <a:xfrm>
            <a:off x="2546555" y="1179295"/>
            <a:ext cx="6191046" cy="4936370"/>
          </a:xfrm>
          <a:prstGeom prst="flowChartProcess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0434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E6042-39D6-AB6F-0A4D-CD21926D4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D1F48E-26DC-9E38-9C76-23778075E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5606DA-1D34-A954-7341-788E457F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F7B6DB1E-9619-1483-E479-E00B106C22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B25359B-CA31-13CB-08AE-BCC19BE6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1143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3574E5-DF93-9F2D-02E8-016AAF1E9B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24" y="2011618"/>
            <a:ext cx="5687299" cy="28347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54A42B-EF8D-2551-2B40-617CE34BA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2884" y="2011618"/>
            <a:ext cx="5723181" cy="2834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354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F4853-0326-A551-85F9-4A1F51B7F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72A0D2E-67B4-5ABA-65E1-55B2FEE7CD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8FCC5B-000C-62B3-5113-2AD6FE1F8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41F28E1A-AAE8-9244-9DEA-0C7E0657A55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E49E65E-E0F0-00FD-20AA-6EA0D3EAE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1143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32EEC9A-18F2-2886-360F-568AFABB2D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783" y="2023252"/>
            <a:ext cx="5614219" cy="28114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752E541-D695-51DE-54ED-56B23AB24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010" y="2023252"/>
            <a:ext cx="5676207" cy="2811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4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0016D-03C3-9F05-D8B3-AF891A530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C9E540-1BB1-E9A1-63DE-071FF5BE1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31B75-188F-2E62-4464-3C7EC11BD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04BEF507-4D21-B694-9071-C82B286F49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70BE29-8E4A-BA6C-B8AB-3B1B490DD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0"/>
            <a:ext cx="10972800" cy="1143000"/>
          </a:xfrm>
        </p:spPr>
        <p:txBody>
          <a:bodyPr/>
          <a:lstStyle/>
          <a:p>
            <a:r>
              <a:rPr lang="en-US" dirty="0"/>
              <a:t>Demo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A2B730-487D-D632-F6C8-9876DC0A2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773" y="2031437"/>
            <a:ext cx="5483500" cy="27331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4532198-4866-CA5A-F805-5BA2460DA2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26" y="2031437"/>
            <a:ext cx="5572257" cy="275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52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7433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2D4D28-837C-005E-6F25-B8F5F44CBB3A}"/>
              </a:ext>
            </a:extLst>
          </p:cNvPr>
          <p:cNvSpPr txBox="1"/>
          <p:nvPr/>
        </p:nvSpPr>
        <p:spPr>
          <a:xfrm>
            <a:off x="609601" y="1337187"/>
            <a:ext cx="10972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Feasibility:</a:t>
            </a:r>
            <a:r>
              <a:rPr lang="en-US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EfficientNetB0 (</a:t>
            </a:r>
            <a:r>
              <a:rPr lang="en-US" sz="2400" dirty="0" err="1"/>
              <a:t>PyTorch</a:t>
            </a:r>
            <a:r>
              <a:rPr lang="en-US" sz="2400" dirty="0"/>
              <a:t>) classifies retina images (80–85% accuracy)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 Web app via </a:t>
            </a:r>
            <a:r>
              <a:rPr lang="en-US" sz="2400" dirty="0" err="1"/>
              <a:t>Streamlit</a:t>
            </a:r>
            <a:r>
              <a:rPr lang="en-US" sz="2400" dirty="0"/>
              <a:t>/ReactJS + </a:t>
            </a:r>
            <a:r>
              <a:rPr lang="en-US" sz="2400" dirty="0" err="1"/>
              <a:t>FastAPI</a:t>
            </a:r>
            <a:r>
              <a:rPr lang="en-US" sz="2400" dirty="0"/>
              <a:t>.</a:t>
            </a:r>
          </a:p>
          <a:p>
            <a:r>
              <a:rPr lang="en-US" sz="2400" b="1" dirty="0"/>
              <a:t>Challenges:</a:t>
            </a:r>
            <a:r>
              <a:rPr lang="en-US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Data imbalance,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Variable image quality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GPU dependency.</a:t>
            </a:r>
          </a:p>
          <a:p>
            <a:r>
              <a:rPr lang="en-US" sz="2400" b="1" dirty="0"/>
              <a:t>Solutions:</a:t>
            </a:r>
            <a:r>
              <a:rPr lang="en-US" sz="2400" dirty="0"/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Data </a:t>
            </a:r>
            <a:r>
              <a:rPr lang="en-US" sz="2400" dirty="0" err="1"/>
              <a:t>augmentation,transfer</a:t>
            </a:r>
            <a:r>
              <a:rPr lang="en-US" sz="2400" dirty="0"/>
              <a:t> learning, weighted loss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Cloud GPU deployment, Docker, secure access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Grad-CAM for explainable results.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76942" y="1579546"/>
            <a:ext cx="11005457" cy="3847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Early Disease Detection:</a:t>
            </a:r>
            <a:r>
              <a:rPr lang="en-US" sz="2400" dirty="0"/>
              <a:t> Enables early identification of diabetic retinopathy, reducing the risk of vision loss through timely medical intervention.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Improved Accessibility:</a:t>
            </a:r>
            <a:r>
              <a:rPr lang="en-US" sz="2400" dirty="0"/>
              <a:t> Brings affordable and automated eye screening to rural and under-resourced areas lacking ophthalmologists.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Reduced Healthcare Burden:</a:t>
            </a:r>
            <a:r>
              <a:rPr lang="en-US" sz="2400" dirty="0"/>
              <a:t> Saves time and cost by minimizing manual diagnosis and hospital visits for initial screening.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Scalable &amp; Sustainable:</a:t>
            </a:r>
            <a:r>
              <a:rPr lang="en-US" sz="2400" dirty="0"/>
              <a:t> Uses cloud/web integration, allowing large-scale deployment with minimal environmental footprint.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400" b="1" dirty="0"/>
              <a:t>Societal Well-being:</a:t>
            </a:r>
            <a:r>
              <a:rPr lang="en-US" sz="2400" dirty="0"/>
              <a:t> Enhances quality of life by preventing blindness, supporting healthier communities, and improving productivity</a:t>
            </a:r>
            <a:r>
              <a:rPr lang="en-US" sz="2800" dirty="0"/>
              <a:t>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448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A480-572A-FF0F-5493-1E904A4F8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663A1D1-9C36-A3A9-E257-842F6E68D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3333B130-58B9-7AC0-CE41-BB3A73902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A0C35-122B-25FD-8733-D407FE94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B607F146-93C5-9380-6463-2CADC25D192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4483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7BB893-9B7A-E2E3-86FB-68AB167A5497}"/>
              </a:ext>
            </a:extLst>
          </p:cNvPr>
          <p:cNvSpPr txBox="1"/>
          <p:nvPr/>
        </p:nvSpPr>
        <p:spPr>
          <a:xfrm>
            <a:off x="801328" y="1332987"/>
            <a:ext cx="1058934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4400" eaLnBrk="0" hangingPunct="0">
              <a:buFontTx/>
              <a:buChar char="•"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Real-Time Clinical Integration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lvl="1" defTabSz="914400" eaLnBrk="0" hangingPunct="0">
              <a:buFontTx/>
              <a:buChar char="•"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Connect the model with hospital systems or fundus cameras for instant DR screening and reporting.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Mobile Application Deployment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lvl="1" defTabSz="914400" eaLnBrk="0" hangingPunct="0">
              <a:buFontTx/>
              <a:buChar char="•"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Develop a lightweight Android/iOS app to allow remote rural screening using smartphone fundus adapters.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Model Enhancement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lvl="1" defTabSz="914400" eaLnBrk="0" hangingPunct="0">
              <a:buFontTx/>
              <a:buChar char="•"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Upgrade to EfficientNetV2 / Vision Transformers for improved accuracy and faster inference on larger datasets.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Explainable AI (XAI)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lvl="1" defTabSz="914400" eaLnBrk="0" hangingPunct="0">
              <a:buFontTx/>
              <a:buChar char="•"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Integrate better visualization (Grad-CAM++, LIME) to help doctors trust and understand predictions.</a:t>
            </a:r>
          </a:p>
          <a:p>
            <a:pPr lvl="0" defTabSz="914400" eaLnBrk="0" hangingPunct="0">
              <a:buFontTx/>
              <a:buChar char="•"/>
            </a:pPr>
            <a:r>
              <a:rPr lang="en-US" altLang="en-US" sz="2000" b="1" dirty="0">
                <a:latin typeface="+mn-lt"/>
                <a:cs typeface="Times New Roman" panose="02020603050405020304" pitchFamily="18" charset="0"/>
              </a:rPr>
              <a:t>Multimodal Analysis</a:t>
            </a:r>
            <a:endParaRPr lang="en-US" altLang="en-US" sz="2000" dirty="0">
              <a:latin typeface="+mn-lt"/>
              <a:cs typeface="Times New Roman" panose="02020603050405020304" pitchFamily="18" charset="0"/>
            </a:endParaRPr>
          </a:p>
          <a:p>
            <a:pPr lvl="1" defTabSz="914400" eaLnBrk="0" hangingPunct="0">
              <a:buFontTx/>
              <a:buChar char="•"/>
            </a:pPr>
            <a:r>
              <a:rPr lang="en-US" altLang="en-US" sz="2000" dirty="0">
                <a:latin typeface="+mn-lt"/>
                <a:cs typeface="Times New Roman" panose="02020603050405020304" pitchFamily="18" charset="0"/>
              </a:rPr>
              <a:t>Combine retina images with patient data (glucose level, BP, duration of diabetes) for holistic diagnosis.</a:t>
            </a:r>
          </a:p>
          <a:p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FCB1044-24B6-0E6A-9B57-E94488AEC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42333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6449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Tech Titans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3CA711-7827-EDA0-5387-4248EB9204B1}"/>
              </a:ext>
            </a:extLst>
          </p:cNvPr>
          <p:cNvSpPr txBox="1"/>
          <p:nvPr/>
        </p:nvSpPr>
        <p:spPr>
          <a:xfrm>
            <a:off x="609600" y="1553497"/>
            <a:ext cx="1076632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https://pmc.ncbi.nlm.nih.gov/articles/PMC8468161</a:t>
            </a:r>
            <a:br>
              <a:rPr lang="en-US" sz="2000" dirty="0">
                <a:hlinkClick r:id="rId3"/>
              </a:rPr>
            </a:br>
            <a:endParaRPr lang="en-US" sz="2000" dirty="0">
              <a:hlinkClick r:id="rId3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3"/>
              </a:rPr>
              <a:t>https://www.kaggle.com/datasets/sovitrath/diabetic-retinopathy-224x224-gaussian-filtered/code</a:t>
            </a:r>
            <a:br>
              <a:rPr lang="en-US" sz="2000" dirty="0"/>
            </a:br>
            <a:r>
              <a:rPr lang="en-U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4"/>
              </a:rPr>
              <a:t>https://ieeexplore.ieee.org/document/10539012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5"/>
              </a:rPr>
              <a:t>https://retinalscreenings.com/blog/diabetic-retinopathy-stages/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https://www.ncbi.nlm.nih.gov/books/NBK560805/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6"/>
              </a:rPr>
              <a:t>https://pubmed.ncbi.nlm.nih.gov/29679616/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7"/>
              </a:rPr>
              <a:t>https://www.youtube.com/watch?v=5V3GPFUzCCk</a:t>
            </a:r>
            <a:br>
              <a:rPr lang="en-US" sz="2000" dirty="0"/>
            </a:b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hlinkClick r:id="rId8"/>
              </a:rPr>
              <a:t>https://www.youtube.com/watch?v=fCtMf6qHtdk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7988</TotalTime>
  <Words>678</Words>
  <Application>Microsoft Office PowerPoint</Application>
  <PresentationFormat>Widescreen</PresentationFormat>
  <Paragraphs>108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AVINYA_25 HACKATHON</vt:lpstr>
      <vt:lpstr> EXISTING SOLUTION</vt:lpstr>
      <vt:lpstr> PROPOSED SOLUTION</vt:lpstr>
      <vt:lpstr>Technical Approach</vt:lpstr>
      <vt:lpstr>Process of Implementation</vt:lpstr>
      <vt:lpstr>Demo</vt:lpstr>
      <vt:lpstr>Demo</vt:lpstr>
      <vt:lpstr>Demo</vt:lpstr>
      <vt:lpstr>FEASIBILITY AND VIABILITY</vt:lpstr>
      <vt:lpstr>IMPACT AND BENEFITS</vt:lpstr>
      <vt:lpstr>FUTURE SCOPE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DUBBAKA THARUN</cp:lastModifiedBy>
  <cp:revision>172</cp:revision>
  <dcterms:created xsi:type="dcterms:W3CDTF">2013-12-12T18:46:50Z</dcterms:created>
  <dcterms:modified xsi:type="dcterms:W3CDTF">2025-10-21T16:55:29Z</dcterms:modified>
  <cp:category/>
</cp:coreProperties>
</file>